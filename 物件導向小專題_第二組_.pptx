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Raleway Light" pitchFamily="2" charset="0"/>
      <p:regular r:id="rId21"/>
      <p: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934EAB-DFF7-7FAE-0928-758FD9DDE768}" v="19" dt="2026-06-06T13:35:22.208"/>
    <p1510:client id="{F2EA1E7D-DE8A-08C1-3E91-F121A7C37DC3}" v="1" dt="2026-06-06T13:28:11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張定翔" userId="S::b4236136@ulive.pccu.edu.tw::b92ef3fd-962e-4354-9ae0-2c0577f33a16" providerId="AD" clId="Web-{F2EA1E7D-DE8A-08C1-3E91-F121A7C37DC3}"/>
    <pc:docChg chg="modSld">
      <pc:chgData name="張定翔" userId="S::b4236136@ulive.pccu.edu.tw::b92ef3fd-962e-4354-9ae0-2c0577f33a16" providerId="AD" clId="Web-{F2EA1E7D-DE8A-08C1-3E91-F121A7C37DC3}" dt="2026-06-06T13:28:11.202" v="0" actId="20577"/>
      <pc:docMkLst>
        <pc:docMk/>
      </pc:docMkLst>
      <pc:sldChg chg="modSp">
        <pc:chgData name="張定翔" userId="S::b4236136@ulive.pccu.edu.tw::b92ef3fd-962e-4354-9ae0-2c0577f33a16" providerId="AD" clId="Web-{F2EA1E7D-DE8A-08C1-3E91-F121A7C37DC3}" dt="2026-06-06T13:28:11.202" v="0" actId="20577"/>
        <pc:sldMkLst>
          <pc:docMk/>
          <pc:sldMk cId="0" sldId="264"/>
        </pc:sldMkLst>
        <pc:spChg chg="mod">
          <ac:chgData name="張定翔" userId="S::b4236136@ulive.pccu.edu.tw::b92ef3fd-962e-4354-9ae0-2c0577f33a16" providerId="AD" clId="Web-{F2EA1E7D-DE8A-08C1-3E91-F121A7C37DC3}" dt="2026-06-06T13:28:11.202" v="0" actId="20577"/>
          <ac:spMkLst>
            <pc:docMk/>
            <pc:sldMk cId="0" sldId="264"/>
            <ac:spMk id="4" creationId="{00000000-0000-0000-0000-000000000000}"/>
          </ac:spMkLst>
        </pc:spChg>
      </pc:sldChg>
    </pc:docChg>
  </pc:docChgLst>
  <pc:docChgLst>
    <pc:chgData name="張定翔" userId="S::b4236136@ulive.pccu.edu.tw::b92ef3fd-962e-4354-9ae0-2c0577f33a16" providerId="AD" clId="Web-{5F934EAB-DFF7-7FAE-0928-758FD9DDE768}"/>
    <pc:docChg chg="modSld">
      <pc:chgData name="張定翔" userId="S::b4236136@ulive.pccu.edu.tw::b92ef3fd-962e-4354-9ae0-2c0577f33a16" providerId="AD" clId="Web-{5F934EAB-DFF7-7FAE-0928-758FD9DDE768}" dt="2026-06-06T13:35:22.208" v="18"/>
      <pc:docMkLst>
        <pc:docMk/>
      </pc:docMkLst>
      <pc:sldChg chg="modSp">
        <pc:chgData name="張定翔" userId="S::b4236136@ulive.pccu.edu.tw::b92ef3fd-962e-4354-9ae0-2c0577f33a16" providerId="AD" clId="Web-{5F934EAB-DFF7-7FAE-0928-758FD9DDE768}" dt="2026-06-06T13:34:57.770" v="6" actId="20577"/>
        <pc:sldMkLst>
          <pc:docMk/>
          <pc:sldMk cId="0" sldId="256"/>
        </pc:sldMkLst>
        <pc:spChg chg="mod">
          <ac:chgData name="張定翔" userId="S::b4236136@ulive.pccu.edu.tw::b92ef3fd-962e-4354-9ae0-2c0577f33a16" providerId="AD" clId="Web-{5F934EAB-DFF7-7FAE-0928-758FD9DDE768}" dt="2026-06-06T13:34:57.770" v="6" actId="20577"/>
          <ac:spMkLst>
            <pc:docMk/>
            <pc:sldMk cId="0" sldId="256"/>
            <ac:spMk id="7" creationId="{00000000-0000-0000-0000-000000000000}"/>
          </ac:spMkLst>
        </pc:spChg>
      </pc:sldChg>
      <pc:sldChg chg="addSp modSp">
        <pc:chgData name="張定翔" userId="S::b4236136@ulive.pccu.edu.tw::b92ef3fd-962e-4354-9ae0-2c0577f33a16" providerId="AD" clId="Web-{5F934EAB-DFF7-7FAE-0928-758FD9DDE768}" dt="2026-06-06T13:35:16.567" v="10"/>
        <pc:sldMkLst>
          <pc:docMk/>
          <pc:sldMk cId="0" sldId="257"/>
        </pc:sldMkLst>
        <pc:spChg chg="add mod">
          <ac:chgData name="張定翔" userId="S::b4236136@ulive.pccu.edu.tw::b92ef3fd-962e-4354-9ae0-2c0577f33a16" providerId="AD" clId="Web-{5F934EAB-DFF7-7FAE-0928-758FD9DDE768}" dt="2026-06-06T13:35:16.567" v="10"/>
          <ac:spMkLst>
            <pc:docMk/>
            <pc:sldMk cId="0" sldId="257"/>
            <ac:spMk id="15" creationId="{D7C5819D-7463-8707-B94E-03E53F6D4D0E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19.020" v="11"/>
        <pc:sldMkLst>
          <pc:docMk/>
          <pc:sldMk cId="0" sldId="258"/>
        </pc:sldMkLst>
        <pc:spChg chg="add">
          <ac:chgData name="張定翔" userId="S::b4236136@ulive.pccu.edu.tw::b92ef3fd-962e-4354-9ae0-2c0577f33a16" providerId="AD" clId="Web-{5F934EAB-DFF7-7FAE-0928-758FD9DDE768}" dt="2026-06-06T13:35:19.020" v="11"/>
          <ac:spMkLst>
            <pc:docMk/>
            <pc:sldMk cId="0" sldId="258"/>
            <ac:spMk id="15" creationId="{74941930-D834-7425-C07A-61314E76F39D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19.333" v="12"/>
        <pc:sldMkLst>
          <pc:docMk/>
          <pc:sldMk cId="0" sldId="259"/>
        </pc:sldMkLst>
        <pc:spChg chg="add">
          <ac:chgData name="張定翔" userId="S::b4236136@ulive.pccu.edu.tw::b92ef3fd-962e-4354-9ae0-2c0577f33a16" providerId="AD" clId="Web-{5F934EAB-DFF7-7FAE-0928-758FD9DDE768}" dt="2026-06-06T13:35:19.333" v="12"/>
          <ac:spMkLst>
            <pc:docMk/>
            <pc:sldMk cId="0" sldId="259"/>
            <ac:spMk id="22" creationId="{D040474F-48A9-BEBD-7751-2882F163EE1B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19.614" v="13"/>
        <pc:sldMkLst>
          <pc:docMk/>
          <pc:sldMk cId="0" sldId="260"/>
        </pc:sldMkLst>
        <pc:spChg chg="add">
          <ac:chgData name="張定翔" userId="S::b4236136@ulive.pccu.edu.tw::b92ef3fd-962e-4354-9ae0-2c0577f33a16" providerId="AD" clId="Web-{5F934EAB-DFF7-7FAE-0928-758FD9DDE768}" dt="2026-06-06T13:35:19.614" v="13"/>
          <ac:spMkLst>
            <pc:docMk/>
            <pc:sldMk cId="0" sldId="260"/>
            <ac:spMk id="10" creationId="{FC866EE5-6768-D309-9015-A52A3441F5C1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19.958" v="14"/>
        <pc:sldMkLst>
          <pc:docMk/>
          <pc:sldMk cId="0" sldId="261"/>
        </pc:sldMkLst>
        <pc:spChg chg="add">
          <ac:chgData name="張定翔" userId="S::b4236136@ulive.pccu.edu.tw::b92ef3fd-962e-4354-9ae0-2c0577f33a16" providerId="AD" clId="Web-{5F934EAB-DFF7-7FAE-0928-758FD9DDE768}" dt="2026-06-06T13:35:19.958" v="14"/>
          <ac:spMkLst>
            <pc:docMk/>
            <pc:sldMk cId="0" sldId="261"/>
            <ac:spMk id="24" creationId="{0B4D4902-32C1-12B5-E489-DBEB8EC6EF4E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20.302" v="15"/>
        <pc:sldMkLst>
          <pc:docMk/>
          <pc:sldMk cId="0" sldId="262"/>
        </pc:sldMkLst>
        <pc:spChg chg="add">
          <ac:chgData name="張定翔" userId="S::b4236136@ulive.pccu.edu.tw::b92ef3fd-962e-4354-9ae0-2c0577f33a16" providerId="AD" clId="Web-{5F934EAB-DFF7-7FAE-0928-758FD9DDE768}" dt="2026-06-06T13:35:20.302" v="15"/>
          <ac:spMkLst>
            <pc:docMk/>
            <pc:sldMk cId="0" sldId="262"/>
            <ac:spMk id="7" creationId="{816DFC9C-6A0B-5249-12AE-618DCDE3C7ED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20.645" v="16"/>
        <pc:sldMkLst>
          <pc:docMk/>
          <pc:sldMk cId="0" sldId="263"/>
        </pc:sldMkLst>
        <pc:spChg chg="add">
          <ac:chgData name="張定翔" userId="S::b4236136@ulive.pccu.edu.tw::b92ef3fd-962e-4354-9ae0-2c0577f33a16" providerId="AD" clId="Web-{5F934EAB-DFF7-7FAE-0928-758FD9DDE768}" dt="2026-06-06T13:35:20.645" v="16"/>
          <ac:spMkLst>
            <pc:docMk/>
            <pc:sldMk cId="0" sldId="263"/>
            <ac:spMk id="5" creationId="{A5E67859-945D-C02D-B399-609B86E25455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21.036" v="17"/>
        <pc:sldMkLst>
          <pc:docMk/>
          <pc:sldMk cId="0" sldId="264"/>
        </pc:sldMkLst>
        <pc:spChg chg="add">
          <ac:chgData name="張定翔" userId="S::b4236136@ulive.pccu.edu.tw::b92ef3fd-962e-4354-9ae0-2c0577f33a16" providerId="AD" clId="Web-{5F934EAB-DFF7-7FAE-0928-758FD9DDE768}" dt="2026-06-06T13:35:21.036" v="17"/>
          <ac:spMkLst>
            <pc:docMk/>
            <pc:sldMk cId="0" sldId="264"/>
            <ac:spMk id="6" creationId="{275C6CB3-4D55-93AA-315A-8D2898FA0ED2}"/>
          </ac:spMkLst>
        </pc:spChg>
      </pc:sldChg>
      <pc:sldChg chg="addSp">
        <pc:chgData name="張定翔" userId="S::b4236136@ulive.pccu.edu.tw::b92ef3fd-962e-4354-9ae0-2c0577f33a16" providerId="AD" clId="Web-{5F934EAB-DFF7-7FAE-0928-758FD9DDE768}" dt="2026-06-06T13:35:22.208" v="18"/>
        <pc:sldMkLst>
          <pc:docMk/>
          <pc:sldMk cId="0" sldId="265"/>
        </pc:sldMkLst>
        <pc:spChg chg="add">
          <ac:chgData name="張定翔" userId="S::b4236136@ulive.pccu.edu.tw::b92ef3fd-962e-4354-9ae0-2c0577f33a16" providerId="AD" clId="Web-{5F934EAB-DFF7-7FAE-0928-758FD9DDE768}" dt="2026-06-06T13:35:22.208" v="18"/>
          <ac:spMkLst>
            <pc:docMk/>
            <pc:sldMk cId="0" sldId="265"/>
            <ac:spMk id="15" creationId="{6733035B-E761-13CE-D66F-DB4797131E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B5286-2C4B-4760-A063-8E4BCD3948C9}" type="datetimeFigureOut"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742B6-931F-4954-800F-8FC1BDE90274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182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THPCCU/Calculator/tree/mast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263" y="1085850"/>
            <a:ext cx="4382879" cy="468620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255041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物件導向專題報告</a:t>
            </a:r>
            <a:endParaRPr lang="zh-CN" sz="3700" dirty="0"/>
          </a:p>
        </p:txBody>
      </p:sp>
      <p:sp>
        <p:nvSpPr>
          <p:cNvPr id="5" name="Shape 1"/>
          <p:cNvSpPr/>
          <p:nvPr/>
        </p:nvSpPr>
        <p:spPr>
          <a:xfrm>
            <a:off x="661475" y="3424535"/>
            <a:ext cx="1367200" cy="367903"/>
          </a:xfrm>
          <a:prstGeom prst="roundRect">
            <a:avLst>
              <a:gd name="adj" fmla="val 17263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81229" y="3487539"/>
            <a:ext cx="1737277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資工 1A｜第二組</a:t>
            </a:r>
            <a:endParaRPr lang="zh-CN" sz="1150" dirty="0"/>
          </a:p>
        </p:txBody>
      </p:sp>
      <p:sp>
        <p:nvSpPr>
          <p:cNvPr id="7" name="Text 3"/>
          <p:cNvSpPr/>
          <p:nvPr/>
        </p:nvSpPr>
        <p:spPr>
          <a:xfrm>
            <a:off x="661475" y="400506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/>
                <a:ea typeface="Roboto" pitchFamily="34" charset="-122"/>
                <a:cs typeface="Roboto"/>
              </a:rPr>
              <a:t>支援基本運算、平方、平方根及歷史紀錄之物件導向計算機系統</a:t>
            </a:r>
            <a:endParaRPr lang="zh-CN" sz="145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8334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組別資訊</a:t>
            </a:r>
            <a:endParaRPr lang="zh-CN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17006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91236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組別</a:t>
            </a:r>
            <a:endParaRPr lang="zh-CN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32105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第二組</a:t>
            </a:r>
            <a:endParaRPr lang="zh-CN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717006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912368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系級</a:t>
            </a:r>
            <a:endParaRPr lang="zh-CN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321050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資工 1A</a:t>
            </a:r>
            <a:endParaRPr lang="zh-CN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組長</a:t>
            </a:r>
            <a:endParaRPr lang="zh-CN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張定翔</a:t>
            </a:r>
            <a:endParaRPr lang="zh-CN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組員</a:t>
            </a:r>
            <a:endParaRPr lang="zh-CN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陳柏融</a:t>
            </a:r>
            <a:endParaRPr lang="zh-CN" sz="14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C5819D-7463-8707-B94E-03E53F6D4D0E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237456"/>
            <a:ext cx="4382978" cy="43830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4721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小專題題目：計算機</a:t>
            </a:r>
            <a:endParaRPr lang="zh-CN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21334"/>
            <a:ext cx="472468" cy="472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2062" y="2421334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基本四則運算</a:t>
            </a:r>
            <a:endParaRPr lang="zh-CN" sz="1850" dirty="0"/>
          </a:p>
        </p:txBody>
      </p:sp>
      <p:sp>
        <p:nvSpPr>
          <p:cNvPr id="7" name="Text 3"/>
          <p:cNvSpPr/>
          <p:nvPr/>
        </p:nvSpPr>
        <p:spPr>
          <a:xfrm>
            <a:off x="5942062" y="2830016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支援加法、減法、乘法、除法二元運算功能</a:t>
            </a:r>
            <a:endParaRPr lang="zh-CN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510459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42062" y="3510459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一元運算</a:t>
            </a:r>
            <a:endParaRPr lang="zh-CN" sz="1850" dirty="0"/>
          </a:p>
        </p:txBody>
      </p:sp>
      <p:sp>
        <p:nvSpPr>
          <p:cNvPr id="10" name="Text 5"/>
          <p:cNvSpPr/>
          <p:nvPr/>
        </p:nvSpPr>
        <p:spPr>
          <a:xfrm>
            <a:off x="5942062" y="3919141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支援平方（x²）與平方根（√x）一元運算功能</a:t>
            </a:r>
            <a:endParaRPr lang="zh-CN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599583"/>
            <a:ext cx="472468" cy="472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2062" y="459958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結果顯示與更新</a:t>
            </a:r>
            <a:endParaRPr lang="zh-CN" sz="1850" dirty="0"/>
          </a:p>
        </p:txBody>
      </p:sp>
      <p:sp>
        <p:nvSpPr>
          <p:cNvPr id="13" name="Text 7"/>
          <p:cNvSpPr/>
          <p:nvPr/>
        </p:nvSpPr>
        <p:spPr>
          <a:xfrm>
            <a:off x="5942062" y="5008265"/>
            <a:ext cx="558815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運算完成後即時更新並顯示結果作為下次運算基礎​</a:t>
            </a:r>
            <a:endParaRPr lang="zh-CN" sz="14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941930-D834-7425-C07A-61314E76F39D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995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程式架構介紹</a:t>
            </a:r>
            <a:endParaRPr lang="zh-CN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63092"/>
            <a:ext cx="11478330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採用物件導向設計，以抽象類別統一介面，各運算子類別各自實作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方法。</a:t>
            </a:r>
            <a:endParaRPr lang="zh-CN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097286"/>
            <a:ext cx="261782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491184"/>
            <a:ext cx="4046238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抽象基底類別，定義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calculate(a, b)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純虛擬介面</a:t>
            </a:r>
            <a:endParaRPr lang="zh-CN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2928938"/>
            <a:ext cx="3436653" cy="1200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134618"/>
            <a:ext cx="3436653" cy="281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，實作加法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，實作減法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，實作乘法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，實作除法（含除以零檢查）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6382" y="2731591"/>
            <a:ext cx="7040089" cy="2567384"/>
          </a:xfrm>
          <a:prstGeom prst="roundRect">
            <a:avLst>
              <a:gd name="adj" fmla="val 262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62" y="2826147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2625" y="2826147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，實作平方</a:t>
            </a:r>
            <a:endParaRPr lang="zh-CN" sz="1250" dirty="0"/>
          </a:p>
        </p:txBody>
      </p:sp>
      <p:sp>
        <p:nvSpPr>
          <p:cNvPr id="11" name="Text 9"/>
          <p:cNvSpPr/>
          <p:nvPr/>
        </p:nvSpPr>
        <p:spPr>
          <a:xfrm>
            <a:off x="4663462" y="3252986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SquareRoot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2625" y="3252986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繼承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，實作平方根（含負數檢查）</a:t>
            </a:r>
            <a:endParaRPr lang="zh-CN" sz="1250" dirty="0"/>
          </a:p>
        </p:txBody>
      </p:sp>
      <p:sp>
        <p:nvSpPr>
          <p:cNvPr id="13" name="Text 11"/>
          <p:cNvSpPr/>
          <p:nvPr/>
        </p:nvSpPr>
        <p:spPr>
          <a:xfrm>
            <a:off x="4663462" y="3679825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2625" y="3679825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儲存目前結果與歷史紀錄，提供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setValue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/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printHistory</a:t>
            </a:r>
            <a:endParaRPr lang="zh-CN" sz="1250" dirty="0"/>
          </a:p>
        </p:txBody>
      </p:sp>
      <p:sp>
        <p:nvSpPr>
          <p:cNvPr id="15" name="Text 13"/>
          <p:cNvSpPr/>
          <p:nvPr/>
        </p:nvSpPr>
        <p:spPr>
          <a:xfrm>
            <a:off x="4663462" y="4106664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2625" y="4106664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主控制類別，持有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，透過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compute()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呼叫運算</a:t>
            </a:r>
            <a:endParaRPr lang="zh-CN" sz="1250" dirty="0"/>
          </a:p>
        </p:txBody>
      </p:sp>
      <p:sp>
        <p:nvSpPr>
          <p:cNvPr id="17" name="Text 15"/>
          <p:cNvSpPr/>
          <p:nvPr/>
        </p:nvSpPr>
        <p:spPr>
          <a:xfrm>
            <a:off x="4663462" y="4533503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InputParser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12625" y="4533503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解析輸入字串，區分四則運算式與一元運算（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前綴）</a:t>
            </a:r>
            <a:endParaRPr lang="zh-CN" sz="1250" dirty="0"/>
          </a:p>
        </p:txBody>
      </p:sp>
      <p:sp>
        <p:nvSpPr>
          <p:cNvPr id="19" name="Text 17"/>
          <p:cNvSpPr/>
          <p:nvPr/>
        </p:nvSpPr>
        <p:spPr>
          <a:xfrm>
            <a:off x="4663462" y="4960342"/>
            <a:ext cx="1831135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ExprEvaluator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2625" y="4960342"/>
            <a:ext cx="5766449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依運算子優先順序（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&gt; 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zh-CN" alt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）求值，內部使用堆疊</a:t>
            </a:r>
            <a:endParaRPr lang="zh-CN" sz="125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40474F-48A9-BEBD-7751-2882F163EE1B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程式使用方式</a:t>
            </a:r>
            <a:endParaRPr lang="zh-CN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顯示並更新</a:t>
            </a:r>
            <a:endParaRPr lang="zh-CN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輸入第二數</a:t>
            </a:r>
            <a:endParaRPr lang="zh-CN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選擇運算</a:t>
            </a:r>
            <a:endParaRPr lang="zh-CN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zh-CN" alt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輸入第一數</a:t>
            </a:r>
            <a:endParaRPr lang="zh-CN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完成一次運算後，可選擇繼續計算（以當前結果為基礎）或結束程式。</a:t>
            </a:r>
            <a:endParaRPr lang="zh-CN" sz="145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866EE5-6768-D309-9015-A52A3441F5C1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047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安裝與執行方式</a:t>
            </a:r>
            <a:endParaRPr lang="zh-CN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72406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編譯與執行</a:t>
            </a:r>
            <a:endParaRPr lang="zh-CN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859955"/>
            <a:ext cx="584800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下載程式碼後，使用任一支援 C++ 的編譯器進行編譯並執行。</a:t>
            </a:r>
            <a:endParaRPr lang="zh-CN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234208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依賴環境</a:t>
            </a:r>
            <a:endParaRPr lang="zh-CN" sz="1550" dirty="0"/>
          </a:p>
        </p:txBody>
      </p:sp>
      <p:sp>
        <p:nvSpPr>
          <p:cNvPr id="6" name="Text 4"/>
          <p:cNvSpPr/>
          <p:nvPr/>
        </p:nvSpPr>
        <p:spPr>
          <a:xfrm>
            <a:off x="661475" y="2621756"/>
            <a:ext cx="52384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作業系統：Windows / macOS / Linux（任一皆可）</a:t>
            </a:r>
            <a:endParaRPr lang="zh-CN" sz="125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編譯器：支援 C++11 以上（g++、clang++、MSVC）</a:t>
            </a:r>
            <a:endParaRPr lang="zh-CN" sz="1250" dirty="0"/>
          </a:p>
        </p:txBody>
      </p:sp>
      <p:sp>
        <p:nvSpPr>
          <p:cNvPr id="7" name="Text 5"/>
          <p:cNvSpPr/>
          <p:nvPr/>
        </p:nvSpPr>
        <p:spPr>
          <a:xfrm>
            <a:off x="6298149" y="1472406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執行流程</a:t>
            </a:r>
            <a:endParaRPr lang="zh-CN" sz="1550" dirty="0"/>
          </a:p>
        </p:txBody>
      </p:sp>
      <p:sp>
        <p:nvSpPr>
          <p:cNvPr id="8" name="Text 6"/>
          <p:cNvSpPr/>
          <p:nvPr/>
        </p:nvSpPr>
        <p:spPr>
          <a:xfrm>
            <a:off x="6298149" y="187702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8149" y="2130921"/>
            <a:ext cx="523842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298149" y="2249289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輸入第一個數字</a:t>
            </a:r>
            <a:endParaRPr lang="zh-CN" sz="1250" dirty="0"/>
          </a:p>
        </p:txBody>
      </p:sp>
      <p:sp>
        <p:nvSpPr>
          <p:cNvPr id="11" name="Text 9"/>
          <p:cNvSpPr/>
          <p:nvPr/>
        </p:nvSpPr>
        <p:spPr>
          <a:xfrm>
            <a:off x="6298149" y="274399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8149" y="2997895"/>
            <a:ext cx="523842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298149" y="311626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選擇運算類型</a:t>
            </a:r>
            <a:endParaRPr lang="zh-CN" sz="1250" dirty="0"/>
          </a:p>
        </p:txBody>
      </p:sp>
      <p:sp>
        <p:nvSpPr>
          <p:cNvPr id="14" name="Text 12"/>
          <p:cNvSpPr/>
          <p:nvPr/>
        </p:nvSpPr>
        <p:spPr>
          <a:xfrm>
            <a:off x="6298149" y="3610967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8149" y="3864868"/>
            <a:ext cx="523842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6298149" y="3983236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輸入第二個數字（若為二元運算）</a:t>
            </a:r>
            <a:endParaRPr lang="zh-CN" sz="1250" dirty="0"/>
          </a:p>
        </p:txBody>
      </p:sp>
      <p:sp>
        <p:nvSpPr>
          <p:cNvPr id="17" name="Text 15"/>
          <p:cNvSpPr/>
          <p:nvPr/>
        </p:nvSpPr>
        <p:spPr>
          <a:xfrm>
            <a:off x="6298149" y="447794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98149" y="4731841"/>
            <a:ext cx="523842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298149" y="4850209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顯示結果</a:t>
            </a:r>
            <a:endParaRPr lang="zh-CN" sz="1250" dirty="0"/>
          </a:p>
        </p:txBody>
      </p:sp>
      <p:sp>
        <p:nvSpPr>
          <p:cNvPr id="20" name="Text 18"/>
          <p:cNvSpPr/>
          <p:nvPr/>
        </p:nvSpPr>
        <p:spPr>
          <a:xfrm>
            <a:off x="6298149" y="5344914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98149" y="5598815"/>
            <a:ext cx="523842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6298149" y="5717183"/>
            <a:ext cx="523842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選擇繼續計算或結束程式</a:t>
            </a:r>
            <a:endParaRPr lang="zh-CN" sz="1250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4D4902-32C1-12B5-E489-DBEB8EC6EF4E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4" y="263723"/>
            <a:ext cx="4382879" cy="63304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2377579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UML 類別圖</a:t>
            </a:r>
            <a:endParaRPr lang="zh-CN" sz="3700" dirty="0"/>
          </a:p>
        </p:txBody>
      </p:sp>
      <p:sp>
        <p:nvSpPr>
          <p:cNvPr id="5" name="Text 1"/>
          <p:cNvSpPr/>
          <p:nvPr/>
        </p:nvSpPr>
        <p:spPr>
          <a:xfrm>
            <a:off x="5233360" y="3251696"/>
            <a:ext cx="6296860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以下為本專題之 UML 類別圖，展示各類別間的繼承關係與方法定義。 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為抽象基底類別，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Divide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、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SquareRoot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皆繼承並實作 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。 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透過 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介面呼叫運算，</a:t>
            </a:r>
            <a:r>
              <a:rPr lang="zh-CN" alt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負責結果儲存與歷史紀錄顯示。</a:t>
            </a:r>
            <a:endParaRPr lang="zh-CN" sz="145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6DFC9C-6A0B-5249-12AE-618DCDE3C7ED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954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程式畫面截圖 </a:t>
            </a:r>
            <a:endParaRPr lang="zh-CN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68216"/>
            <a:ext cx="10868745" cy="209014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5E67859-945D-C02D-B399-609B86E25455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021409"/>
            <a:ext cx="4567024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5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連結</a:t>
            </a:r>
            <a:endParaRPr lang="zh-CN" sz="5100" dirty="0"/>
          </a:p>
        </p:txBody>
      </p:sp>
      <p:sp>
        <p:nvSpPr>
          <p:cNvPr id="3" name="Text 1"/>
          <p:cNvSpPr/>
          <p:nvPr/>
        </p:nvSpPr>
        <p:spPr>
          <a:xfrm>
            <a:off x="5086421" y="3002459"/>
            <a:ext cx="705963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781629" y="3474938"/>
            <a:ext cx="705963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u="sng" dirty="0">
                <a:solidFill>
                  <a:srgbClr val="1B1B27"/>
                </a:solidFill>
                <a:latin typeface="Roboto"/>
                <a:ea typeface="Roboto"/>
                <a:cs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CTHPCCU/Calculator</a:t>
            </a:r>
            <a:endParaRPr lang="en-US" sz="1450" dirty="0">
              <a:latin typeface="Roboto"/>
              <a:ea typeface="Roboto"/>
              <a:cs typeface="Roboto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75C6CB3-4D55-93AA-315A-8D2898FA0ED2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694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分工資訊</a:t>
            </a:r>
            <a:endParaRPr lang="zh-CN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7562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以下為專題開發過程中的分工與職責劃分，確保專案順利進行。</a:t>
            </a:r>
            <a:endParaRPr lang="zh-CN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090664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832" y="3286026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1B1B2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3441898"/>
            <a:ext cx="255085" cy="25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6832" y="404207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組長：張定翔</a:t>
            </a:r>
            <a:endParaRPr lang="zh-CN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445075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程式設計、進度追蹤與最終整合、專案文件（README）撰寫、PPT</a:t>
            </a:r>
            <a:endParaRPr lang="zh-CN" sz="1450" dirty="0"/>
          </a:p>
        </p:txBody>
      </p:sp>
      <p:sp>
        <p:nvSpPr>
          <p:cNvPr id="9" name="Shape 6"/>
          <p:cNvSpPr/>
          <p:nvPr/>
        </p:nvSpPr>
        <p:spPr>
          <a:xfrm>
            <a:off x="6190301" y="3090664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5658" y="3286026"/>
            <a:ext cx="567021" cy="567035"/>
          </a:xfrm>
          <a:prstGeom prst="roundRect">
            <a:avLst>
              <a:gd name="adj" fmla="val 13436976"/>
            </a:avLst>
          </a:prstGeom>
          <a:solidFill>
            <a:srgbClr val="1B1B2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3441898"/>
            <a:ext cx="255085" cy="2550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85658" y="4042073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zh-CN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組員：陳柏融</a:t>
            </a:r>
            <a:endParaRPr lang="zh-CN" sz="1850" dirty="0"/>
          </a:p>
        </p:txBody>
      </p:sp>
      <p:sp>
        <p:nvSpPr>
          <p:cNvPr id="13" name="Text 9"/>
          <p:cNvSpPr/>
          <p:nvPr/>
        </p:nvSpPr>
        <p:spPr>
          <a:xfrm>
            <a:off x="6385658" y="4450755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zh-CN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核心運算邏輯實作，類別設計與函式開發</a:t>
            </a:r>
            <a:endParaRPr lang="zh-CN" sz="145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3035B-E761-13CE-D66F-DB4797131E0E}"/>
              </a:ext>
            </a:extLst>
          </p:cNvPr>
          <p:cNvSpPr/>
          <p:nvPr/>
        </p:nvSpPr>
        <p:spPr>
          <a:xfrm>
            <a:off x="11098388" y="6568722"/>
            <a:ext cx="1051277" cy="225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10</Slides>
  <Notes>10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10</cp:revision>
  <dcterms:created xsi:type="dcterms:W3CDTF">2026-06-06T13:27:04Z</dcterms:created>
  <dcterms:modified xsi:type="dcterms:W3CDTF">2026-06-06T13:35:25Z</dcterms:modified>
</cp:coreProperties>
</file>